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7" d="100"/>
          <a:sy n="47" d="100"/>
        </p:scale>
        <p:origin x="1027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BE0C2C-FF72-E5CA-074D-84A0D245A8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9E8F9D3-6249-60F6-7F99-EE06547E98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69DD757-E2D9-DF5A-F6E8-EBFFCB432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3E1D8-7644-4742-A1E6-71DEACB5C0BE}" type="datetimeFigureOut">
              <a:rPr lang="pt-BR" smtClean="0"/>
              <a:t>31/08/2026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E38D40E-5AB1-DC74-141B-34828E3DD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BB29BD3-10B0-8CD8-A9EE-2E6E1937F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A5A86-D794-4685-A206-81101A874B1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6260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B86045-7978-5BF4-F719-9651BDC7F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55C9B91-AC59-C8EF-05E1-0F6D19B89C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4CD0280-F712-DA20-2D9B-BA8F59D46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3E1D8-7644-4742-A1E6-71DEACB5C0BE}" type="datetimeFigureOut">
              <a:rPr lang="pt-BR" smtClean="0"/>
              <a:t>31/08/2026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DAA112E-D687-7E2D-4E93-6963DFA3E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BA286BE-63CE-D281-46FC-8841C89D6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A5A86-D794-4685-A206-81101A874B1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084947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39ACCC-09F1-D6B3-6F1A-5F7D19BAC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48183FD-AFB7-BDDB-F8B8-10F6EE8BFA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122200C-F327-0213-63BD-5EB84DDC96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3E1D8-7644-4742-A1E6-71DEACB5C0BE}" type="datetimeFigureOut">
              <a:rPr lang="pt-BR" smtClean="0"/>
              <a:t>31/08/2026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1D12E58-CBAD-C192-9DDB-DE6B66F3E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4D8196F-A12F-62B4-4344-A5B6E466A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A5A86-D794-4685-A206-81101A874B1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756779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B19081-16B3-04EA-E144-2F59731B3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4E041C1-6CB7-2949-FD07-D3ED103F60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03C2564-B30E-0614-7179-5E8AA6A219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FDC17FB-1AC7-E893-7F69-127D3C0507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3E1D8-7644-4742-A1E6-71DEACB5C0BE}" type="datetimeFigureOut">
              <a:rPr lang="pt-BR" smtClean="0"/>
              <a:t>31/08/2026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2651C21-B0C2-EDAC-2A0C-3A56982771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5528610-4B6D-C5E8-02E1-2FCDBB54C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A5A86-D794-4685-A206-81101A874B1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3531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442E2B-6915-9098-2C9D-FA1D1EC387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D0C91F8-FFC5-1880-77B1-CB4359EF6A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F86F8DA-80E1-A8A0-9423-EA9D14EAC7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A9F3FCCC-4BF9-58B0-398A-2A0F45D098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D777BA8-D0D0-5AE8-564F-A93532D8E3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C26D65D0-3D65-B6A5-0D92-677122A8A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3E1D8-7644-4742-A1E6-71DEACB5C0BE}" type="datetimeFigureOut">
              <a:rPr lang="pt-BR" smtClean="0"/>
              <a:t>31/08/2026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21BA931-9AF0-187C-D937-231E3FF1D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4BECFC39-7DF6-F444-267E-3CEF77AD2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A5A86-D794-4685-A206-81101A874B1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771845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F37844-1C3C-E89F-44FB-3185AE0B0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EE887502-C02C-DD59-04E0-A2E77F1CCC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3E1D8-7644-4742-A1E6-71DEACB5C0BE}" type="datetimeFigureOut">
              <a:rPr lang="pt-BR" smtClean="0"/>
              <a:t>31/08/2026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0B7B5E4-B017-3129-B4C5-F81B9C3C9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8ED719F-EB4D-8659-F45A-84BD44F31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A5A86-D794-4685-A206-81101A874B1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523667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56108FD-1010-CE6E-3FC6-973CB9673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3E1D8-7644-4742-A1E6-71DEACB5C0BE}" type="datetimeFigureOut">
              <a:rPr lang="pt-BR" smtClean="0"/>
              <a:t>31/08/2026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4C6FB9D-F607-3F07-D6C7-1DA30BE96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06426EE-8057-3FB6-F9EE-A483021C5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A5A86-D794-4685-A206-81101A874B1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681626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B963F3-0181-5544-F782-1F138FE432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6C83514-FF27-E2FB-1C3D-FF5A8A9F08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35D8759-E8A8-EFEE-CCA8-40C0F5B215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EC76AF6-8EC5-7E8D-BFF2-65289C024E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3E1D8-7644-4742-A1E6-71DEACB5C0BE}" type="datetimeFigureOut">
              <a:rPr lang="pt-BR" smtClean="0"/>
              <a:t>31/08/2026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B53BFB4-0C5C-FCFB-FE33-BDA969B73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512D660-9AEB-F577-0EF7-C9708FF52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A5A86-D794-4685-A206-81101A874B1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446286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40D00A-EDAC-34EE-51EE-113CB9BE6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5E385E06-799F-F6FC-9838-C4E9865255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4FDF9E7-85F1-2650-AE81-1982F647B7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87C7B28-1B85-31D4-C008-625883C37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3E1D8-7644-4742-A1E6-71DEACB5C0BE}" type="datetimeFigureOut">
              <a:rPr lang="pt-BR" smtClean="0"/>
              <a:t>31/08/2026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7F809A3-C789-3952-84DF-0EC778A81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8AA7BB4-C095-79E9-52E7-877330402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A5A86-D794-4685-A206-81101A874B1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626843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341D2B-09F2-F0CA-AA43-50828C46D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218E687-8DFF-6627-AAF8-AD8BFD2CB1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0603A98-38C6-24C7-84DD-82ACFA70B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3E1D8-7644-4742-A1E6-71DEACB5C0BE}" type="datetimeFigureOut">
              <a:rPr lang="pt-BR" smtClean="0"/>
              <a:t>31/08/2026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C627005-119B-C3A4-60CA-A564AA526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6654A77-1E18-CBB6-28A9-9EB45AB36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A5A86-D794-4685-A206-81101A874B1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317603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4EF29EB-520C-C9F6-114F-CC24CD0712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63EBCB0-0D67-A621-4CB8-E81EB80B7B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7641099-B091-FF7C-4F2F-E68883A633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3E1D8-7644-4742-A1E6-71DEACB5C0BE}" type="datetimeFigureOut">
              <a:rPr lang="pt-BR" smtClean="0"/>
              <a:t>31/08/2026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ECA446D-C78F-5A23-E112-FE832BB7A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0EFD57C-7D4B-CAE7-7685-ABCDE22F4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A5A86-D794-4685-A206-81101A874B1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19261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5152C7BE-9BDC-FCF0-F4E6-619D41CBB3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C74EA44-8122-8D14-EB3D-3B5C4C34D8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D90C933-D634-395B-DA50-9965A9A917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33E1D8-7644-4742-A1E6-71DEACB5C0BE}" type="datetimeFigureOut">
              <a:rPr lang="pt-BR" smtClean="0"/>
              <a:t>31/08/2026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7FBB132-6956-20E9-3D69-80CE5F7BFC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415C1F9-C83C-0E2E-076C-70F720F73D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DA5A86-D794-4685-A206-81101A874B1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504751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15D6AD1D-2992-49F8-878D-761E735CB961}"/>
              </a:ext>
            </a:extLst>
          </p:cNvPr>
          <p:cNvSpPr/>
          <p:nvPr/>
        </p:nvSpPr>
        <p:spPr>
          <a:xfrm>
            <a:off x="762000" y="508000"/>
            <a:ext cx="2286000" cy="76200"/>
          </a:xfrm>
          <a:prstGeom prst="rect">
            <a:avLst/>
          </a:prstGeom>
          <a:solidFill>
            <a:srgbClr val="22D3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800">
              <a:solidFill>
                <a:srgbClr val="F8FAFC"/>
              </a:solidFill>
              <a:latin typeface="1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3C11689-0027-D21E-7F6B-B615784B3299}"/>
              </a:ext>
            </a:extLst>
          </p:cNvPr>
          <p:cNvSpPr txBox="1"/>
          <p:nvPr/>
        </p:nvSpPr>
        <p:spPr>
          <a:xfrm>
            <a:off x="762000" y="1524000"/>
            <a:ext cx="1143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4000" b="1">
                <a:solidFill>
                  <a:srgbClr val="3B82F6"/>
                </a:solidFill>
                <a:latin typeface="Calibri" panose="020F0502020204030204" pitchFamily="34" charset="0"/>
              </a:rPr>
              <a:t>INFOWEBTI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8BDF3A7C-84DD-5614-62BD-0A1DCEB0C395}"/>
              </a:ext>
            </a:extLst>
          </p:cNvPr>
          <p:cNvSpPr txBox="1"/>
          <p:nvPr/>
        </p:nvSpPr>
        <p:spPr>
          <a:xfrm>
            <a:off x="762000" y="2222500"/>
            <a:ext cx="8890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2000" b="1">
                <a:solidFill>
                  <a:srgbClr val="22D3EE"/>
                </a:solidFill>
                <a:latin typeface="Calibri" panose="020F0502020204030204" pitchFamily="34" charset="0"/>
              </a:rPr>
              <a:t>Soluções Tecnológicas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04377DB-B9AD-40C3-68FA-844AB459DDA6}"/>
              </a:ext>
            </a:extLst>
          </p:cNvPr>
          <p:cNvSpPr txBox="1"/>
          <p:nvPr/>
        </p:nvSpPr>
        <p:spPr>
          <a:xfrm>
            <a:off x="762000" y="3302000"/>
            <a:ext cx="1143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3800" b="1">
                <a:solidFill>
                  <a:srgbClr val="F8FAFC"/>
                </a:solidFill>
                <a:latin typeface="Calibri" panose="020F0502020204030204" pitchFamily="34" charset="0"/>
              </a:rPr>
              <a:t>Construindo o Futuro da Tecnologia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440E293E-8943-68FF-0785-D807A84CEC29}"/>
              </a:ext>
            </a:extLst>
          </p:cNvPr>
          <p:cNvSpPr/>
          <p:nvPr/>
        </p:nvSpPr>
        <p:spPr>
          <a:xfrm>
            <a:off x="762000" y="4445000"/>
            <a:ext cx="2667000" cy="508000"/>
          </a:xfrm>
          <a:prstGeom prst="roundRect">
            <a:avLst/>
          </a:prstGeom>
          <a:solidFill>
            <a:srgbClr val="1A27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rgbClr val="22D3EE"/>
                </a:solidFill>
                <a:latin typeface="Calibri" panose="020F0502020204030204" pitchFamily="34" charset="0"/>
              </a:rPr>
              <a:t>Cloud 99.9%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042DDD8E-8385-4B96-1542-61D34C69F863}"/>
              </a:ext>
            </a:extLst>
          </p:cNvPr>
          <p:cNvSpPr/>
          <p:nvPr/>
        </p:nvSpPr>
        <p:spPr>
          <a:xfrm>
            <a:off x="3619500" y="4445000"/>
            <a:ext cx="2667000" cy="508000"/>
          </a:xfrm>
          <a:prstGeom prst="roundRect">
            <a:avLst/>
          </a:prstGeom>
          <a:solidFill>
            <a:srgbClr val="1A27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rgbClr val="22D3EE"/>
                </a:solidFill>
                <a:latin typeface="Calibri" panose="020F0502020204030204" pitchFamily="34" charset="0"/>
              </a:rPr>
              <a:t>Segurança 24/7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C606FB31-6EA1-6DAF-18B9-506D688CE092}"/>
              </a:ext>
            </a:extLst>
          </p:cNvPr>
          <p:cNvSpPr/>
          <p:nvPr/>
        </p:nvSpPr>
        <p:spPr>
          <a:xfrm>
            <a:off x="6477000" y="4445000"/>
            <a:ext cx="2667000" cy="508000"/>
          </a:xfrm>
          <a:prstGeom prst="roundRect">
            <a:avLst/>
          </a:prstGeom>
          <a:solidFill>
            <a:srgbClr val="1A27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rgbClr val="22D3EE"/>
                </a:solidFill>
                <a:latin typeface="Calibri" panose="020F0502020204030204" pitchFamily="34" charset="0"/>
              </a:rPr>
              <a:t>98% Performance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A3E38F69-EB91-8996-5A51-FB53D49D6962}"/>
              </a:ext>
            </a:extLst>
          </p:cNvPr>
          <p:cNvSpPr txBox="1"/>
          <p:nvPr/>
        </p:nvSpPr>
        <p:spPr>
          <a:xfrm>
            <a:off x="762000" y="6350000"/>
            <a:ext cx="11430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600">
                <a:solidFill>
                  <a:srgbClr val="94A3B8"/>
                </a:solidFill>
                <a:latin typeface="Calibri" panose="020F0502020204030204" pitchFamily="34" charset="0"/>
              </a:rPr>
              <a:t>Infraestrutura de TI • desde 2006 • www.infowebti.com.br</a:t>
            </a:r>
          </a:p>
        </p:txBody>
      </p:sp>
    </p:spTree>
    <p:extLst>
      <p:ext uri="{BB962C8B-B14F-4D97-AF65-F5344CB8AC3E}">
        <p14:creationId xmlns:p14="http://schemas.microsoft.com/office/powerpoint/2010/main" val="39197896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A4E18C20-AF7D-B0E0-EA25-5A3E6C3A007E}"/>
              </a:ext>
            </a:extLst>
          </p:cNvPr>
          <p:cNvSpPr/>
          <p:nvPr/>
        </p:nvSpPr>
        <p:spPr>
          <a:xfrm>
            <a:off x="508000" y="381000"/>
            <a:ext cx="1778000" cy="76200"/>
          </a:xfrm>
          <a:prstGeom prst="rect">
            <a:avLst/>
          </a:prstGeom>
          <a:solidFill>
            <a:srgbClr val="22D3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800">
              <a:solidFill>
                <a:srgbClr val="F8FAFC"/>
              </a:solidFill>
              <a:latin typeface="1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9DED154-A570-338B-8203-98E82AA33487}"/>
              </a:ext>
            </a:extLst>
          </p:cNvPr>
          <p:cNvSpPr txBox="1"/>
          <p:nvPr/>
        </p:nvSpPr>
        <p:spPr>
          <a:xfrm>
            <a:off x="508000" y="762000"/>
            <a:ext cx="889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3400" b="1">
                <a:solidFill>
                  <a:srgbClr val="F8FAFC"/>
                </a:solidFill>
                <a:latin typeface="Calibri" panose="020F0502020204030204" pitchFamily="34" charset="0"/>
              </a:rPr>
              <a:t>Quem Somos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CD94CE83-36B1-ED26-57AC-B025310432B3}"/>
              </a:ext>
            </a:extLst>
          </p:cNvPr>
          <p:cNvSpPr txBox="1"/>
          <p:nvPr/>
        </p:nvSpPr>
        <p:spPr>
          <a:xfrm>
            <a:off x="508000" y="1651000"/>
            <a:ext cx="1117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600">
                <a:solidFill>
                  <a:srgbClr val="94A3B8"/>
                </a:solidFill>
                <a:latin typeface="Calibri" panose="020F0502020204030204" pitchFamily="34" charset="0"/>
              </a:rPr>
              <a:t>A InfoWebTI Soluções Tecnológicas é uma empresa especializada em infraestrutura de TI, oferecendo soluções que unem inovação, segurança e performance para impulsionar o crescimento sustentável dos nossos clientes.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84829F7-CB74-6128-6119-DF96FF5AE608}"/>
              </a:ext>
            </a:extLst>
          </p:cNvPr>
          <p:cNvSpPr txBox="1"/>
          <p:nvPr/>
        </p:nvSpPr>
        <p:spPr>
          <a:xfrm>
            <a:off x="508000" y="3238500"/>
            <a:ext cx="1117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600">
                <a:solidFill>
                  <a:srgbClr val="94A3B8"/>
                </a:solidFill>
                <a:latin typeface="Calibri" panose="020F0502020204030204" pitchFamily="34" charset="0"/>
              </a:rPr>
              <a:t>Atendemos pequenas e grandes empresas com serviços de website, manutenção, redes, nuvem e cibersegurança.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A4C83966-D0E1-072F-454A-BF0031069355}"/>
              </a:ext>
            </a:extLst>
          </p:cNvPr>
          <p:cNvSpPr/>
          <p:nvPr/>
        </p:nvSpPr>
        <p:spPr>
          <a:xfrm>
            <a:off x="762000" y="4826000"/>
            <a:ext cx="3302000" cy="1270000"/>
          </a:xfrm>
          <a:prstGeom prst="roundRect">
            <a:avLst/>
          </a:prstGeom>
          <a:solidFill>
            <a:srgbClr val="1A27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200" b="1">
                <a:solidFill>
                  <a:srgbClr val="F8FAFC"/>
                </a:solidFill>
                <a:latin typeface="Calibri" panose="020F0502020204030204" pitchFamily="34" charset="0"/>
              </a:rPr>
              <a:t>+20 anos</a:t>
            </a:r>
          </a:p>
          <a:p>
            <a:pPr algn="ctr"/>
            <a:r>
              <a:rPr lang="pt-BR" sz="2200" b="1">
                <a:solidFill>
                  <a:srgbClr val="F8FAFC"/>
                </a:solidFill>
                <a:latin typeface="Calibri" panose="020F0502020204030204" pitchFamily="34" charset="0"/>
              </a:rPr>
              <a:t>De experiência em TI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61228B6A-FEA2-B281-5D9C-08A87B881BEB}"/>
              </a:ext>
            </a:extLst>
          </p:cNvPr>
          <p:cNvSpPr/>
          <p:nvPr/>
        </p:nvSpPr>
        <p:spPr>
          <a:xfrm>
            <a:off x="4445000" y="4826000"/>
            <a:ext cx="3302000" cy="1270000"/>
          </a:xfrm>
          <a:prstGeom prst="roundRect">
            <a:avLst/>
          </a:prstGeom>
          <a:solidFill>
            <a:srgbClr val="1A27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b="1">
                <a:solidFill>
                  <a:srgbClr val="F8FAFC"/>
                </a:solidFill>
                <a:latin typeface="Calibri" panose="020F0502020204030204" pitchFamily="34" charset="0"/>
              </a:rPr>
              <a:t>Soluções sob medida</a:t>
            </a:r>
          </a:p>
          <a:p>
            <a:pPr algn="ctr"/>
            <a:r>
              <a:rPr lang="pt-BR" sz="2000" b="1">
                <a:solidFill>
                  <a:srgbClr val="F8FAFC"/>
                </a:solidFill>
                <a:latin typeface="Calibri" panose="020F0502020204030204" pitchFamily="34" charset="0"/>
              </a:rPr>
              <a:t>Inovação de ponta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93CA7554-E1C6-65C9-3EBB-597A0EE104F1}"/>
              </a:ext>
            </a:extLst>
          </p:cNvPr>
          <p:cNvSpPr/>
          <p:nvPr/>
        </p:nvSpPr>
        <p:spPr>
          <a:xfrm>
            <a:off x="8128000" y="4826000"/>
            <a:ext cx="3302000" cy="1270000"/>
          </a:xfrm>
          <a:prstGeom prst="roundRect">
            <a:avLst/>
          </a:prstGeom>
          <a:solidFill>
            <a:srgbClr val="1A27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200" b="1">
                <a:solidFill>
                  <a:srgbClr val="F8FAFC"/>
                </a:solidFill>
                <a:latin typeface="Calibri" panose="020F0502020204030204" pitchFamily="34" charset="0"/>
              </a:rPr>
              <a:t>Resultados</a:t>
            </a:r>
          </a:p>
          <a:p>
            <a:pPr algn="ctr"/>
            <a:r>
              <a:rPr lang="pt-BR" sz="2200" b="1">
                <a:solidFill>
                  <a:srgbClr val="F8FAFC"/>
                </a:solidFill>
                <a:latin typeface="Calibri" panose="020F0502020204030204" pitchFamily="34" charset="0"/>
              </a:rPr>
              <a:t>Compromisso real</a:t>
            </a:r>
          </a:p>
        </p:txBody>
      </p:sp>
    </p:spTree>
    <p:extLst>
      <p:ext uri="{BB962C8B-B14F-4D97-AF65-F5344CB8AC3E}">
        <p14:creationId xmlns:p14="http://schemas.microsoft.com/office/powerpoint/2010/main" val="3637074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EE5E1A69-C3DB-623D-85FD-059D1A765123}"/>
              </a:ext>
            </a:extLst>
          </p:cNvPr>
          <p:cNvSpPr/>
          <p:nvPr/>
        </p:nvSpPr>
        <p:spPr>
          <a:xfrm>
            <a:off x="508000" y="381000"/>
            <a:ext cx="1778000" cy="76200"/>
          </a:xfrm>
          <a:prstGeom prst="rect">
            <a:avLst/>
          </a:prstGeom>
          <a:solidFill>
            <a:srgbClr val="22D3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800">
              <a:solidFill>
                <a:srgbClr val="F8FAFC"/>
              </a:solidFill>
              <a:latin typeface="1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13DCEBA-70B5-902E-402C-265C74D7BABC}"/>
              </a:ext>
            </a:extLst>
          </p:cNvPr>
          <p:cNvSpPr txBox="1"/>
          <p:nvPr/>
        </p:nvSpPr>
        <p:spPr>
          <a:xfrm>
            <a:off x="508000" y="762000"/>
            <a:ext cx="889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3400" b="1">
                <a:solidFill>
                  <a:srgbClr val="F8FAFC"/>
                </a:solidFill>
                <a:latin typeface="Calibri" panose="020F0502020204030204" pitchFamily="34" charset="0"/>
              </a:rPr>
              <a:t>Nossa História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782A014E-61D3-5C36-0F45-679DC48A8644}"/>
              </a:ext>
            </a:extLst>
          </p:cNvPr>
          <p:cNvSpPr/>
          <p:nvPr/>
        </p:nvSpPr>
        <p:spPr>
          <a:xfrm>
            <a:off x="508000" y="1651000"/>
            <a:ext cx="1651000" cy="571500"/>
          </a:xfrm>
          <a:prstGeom prst="roundRect">
            <a:avLst/>
          </a:prstGeom>
          <a:solidFill>
            <a:srgbClr val="22D3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rgbClr val="0A0F1C"/>
                </a:solidFill>
                <a:latin typeface="Calibri" panose="020F0502020204030204" pitchFamily="34" charset="0"/>
              </a:rPr>
              <a:t>2006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54C8EEF-0C12-4B15-8C6F-B9F4D3E5179F}"/>
              </a:ext>
            </a:extLst>
          </p:cNvPr>
          <p:cNvSpPr txBox="1"/>
          <p:nvPr/>
        </p:nvSpPr>
        <p:spPr>
          <a:xfrm>
            <a:off x="508000" y="2667000"/>
            <a:ext cx="1117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600">
                <a:solidFill>
                  <a:srgbClr val="94A3B8"/>
                </a:solidFill>
                <a:latin typeface="Calibri" panose="020F0502020204030204" pitchFamily="34" charset="0"/>
              </a:rPr>
              <a:t>Há mais de 20 anos, a InfoWebTI transforma o mercado com paixão e inovação.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1B539C6-0B9E-4ACC-A876-4C3D1D48AE9D}"/>
              </a:ext>
            </a:extLst>
          </p:cNvPr>
          <p:cNvSpPr txBox="1"/>
          <p:nvPr/>
        </p:nvSpPr>
        <p:spPr>
          <a:xfrm>
            <a:off x="508000" y="3238500"/>
            <a:ext cx="1117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600">
                <a:solidFill>
                  <a:srgbClr val="94A3B8"/>
                </a:solidFill>
                <a:latin typeface="Calibri" panose="020F0502020204030204" pitchFamily="34" charset="0"/>
              </a:rPr>
              <a:t>Tudo começou em 2006, trabalhando com computadores pessoais.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80BD6576-0904-7B9E-E4A0-86B753C26D19}"/>
              </a:ext>
            </a:extLst>
          </p:cNvPr>
          <p:cNvSpPr txBox="1"/>
          <p:nvPr/>
        </p:nvSpPr>
        <p:spPr>
          <a:xfrm>
            <a:off x="508000" y="3810000"/>
            <a:ext cx="1117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600">
                <a:solidFill>
                  <a:srgbClr val="94A3B8"/>
                </a:solidFill>
                <a:latin typeface="Calibri" panose="020F0502020204030204" pitchFamily="34" charset="0"/>
              </a:rPr>
              <a:t>Crescemos, inovamos e hoje oferecemos serviços de website, manutenção e infraestrutura para pequenas e grandes empresas.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A787E972-031C-8835-663D-E942A9CF17BB}"/>
              </a:ext>
            </a:extLst>
          </p:cNvPr>
          <p:cNvSpPr txBox="1"/>
          <p:nvPr/>
        </p:nvSpPr>
        <p:spPr>
          <a:xfrm>
            <a:off x="508000" y="4572000"/>
            <a:ext cx="1117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600">
                <a:solidFill>
                  <a:srgbClr val="94A3B8"/>
                </a:solidFill>
                <a:latin typeface="Calibri" panose="020F0502020204030204" pitchFamily="34" charset="0"/>
              </a:rPr>
              <a:t>Atualmente somos referência em soluções de nuvem, cibersegurança e redes de alta performance.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4BA84A27-6CF6-CE3A-2F76-D80D121043B5}"/>
              </a:ext>
            </a:extLst>
          </p:cNvPr>
          <p:cNvSpPr/>
          <p:nvPr/>
        </p:nvSpPr>
        <p:spPr>
          <a:xfrm>
            <a:off x="508000" y="5842000"/>
            <a:ext cx="11176000" cy="571500"/>
          </a:xfrm>
          <a:prstGeom prst="roundRect">
            <a:avLst/>
          </a:prstGeom>
          <a:solidFill>
            <a:srgbClr val="3B82F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>
                <a:solidFill>
                  <a:srgbClr val="0A0F1C"/>
                </a:solidFill>
                <a:latin typeface="Calibri" panose="020F0502020204030204" pitchFamily="34" charset="0"/>
              </a:rPr>
              <a:t>2006 - hoje: evolução constante em tecnologia</a:t>
            </a:r>
          </a:p>
        </p:txBody>
      </p:sp>
    </p:spTree>
    <p:extLst>
      <p:ext uri="{BB962C8B-B14F-4D97-AF65-F5344CB8AC3E}">
        <p14:creationId xmlns:p14="http://schemas.microsoft.com/office/powerpoint/2010/main" val="6633502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6CA87E8A-829F-2103-893F-7F5DC859F92C}"/>
              </a:ext>
            </a:extLst>
          </p:cNvPr>
          <p:cNvSpPr/>
          <p:nvPr/>
        </p:nvSpPr>
        <p:spPr>
          <a:xfrm>
            <a:off x="508000" y="381000"/>
            <a:ext cx="1778000" cy="76200"/>
          </a:xfrm>
          <a:prstGeom prst="rect">
            <a:avLst/>
          </a:prstGeom>
          <a:solidFill>
            <a:srgbClr val="22D3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800">
              <a:solidFill>
                <a:srgbClr val="F8FAFC"/>
              </a:solidFill>
              <a:latin typeface="1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8C2880A-E134-C69B-753A-CA0DAF039B27}"/>
              </a:ext>
            </a:extLst>
          </p:cNvPr>
          <p:cNvSpPr txBox="1"/>
          <p:nvPr/>
        </p:nvSpPr>
        <p:spPr>
          <a:xfrm>
            <a:off x="508000" y="762000"/>
            <a:ext cx="889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3400" b="1">
                <a:solidFill>
                  <a:srgbClr val="F8FAFC"/>
                </a:solidFill>
                <a:latin typeface="Calibri" panose="020F0502020204030204" pitchFamily="34" charset="0"/>
              </a:rPr>
              <a:t>Missão, Visão &amp; Valores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1A6C9529-C975-AF0E-0B5A-CA6A210A416E}"/>
              </a:ext>
            </a:extLst>
          </p:cNvPr>
          <p:cNvSpPr/>
          <p:nvPr/>
        </p:nvSpPr>
        <p:spPr>
          <a:xfrm>
            <a:off x="508000" y="1778000"/>
            <a:ext cx="3556000" cy="4699000"/>
          </a:xfrm>
          <a:prstGeom prst="roundRect">
            <a:avLst/>
          </a:prstGeom>
          <a:solidFill>
            <a:srgbClr val="1A27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b="1">
                <a:solidFill>
                  <a:srgbClr val="F8FAFC"/>
                </a:solidFill>
                <a:latin typeface="Calibri" panose="020F0502020204030204" pitchFamily="34" charset="0"/>
              </a:rPr>
              <a:t>MISSÃO</a:t>
            </a:r>
          </a:p>
          <a:p>
            <a:pPr algn="ctr"/>
            <a:endParaRPr lang="pt-BR" sz="2000" b="1">
              <a:solidFill>
                <a:srgbClr val="F8FAFC"/>
              </a:solidFill>
              <a:latin typeface="Calibri" panose="020F0502020204030204" pitchFamily="34" charset="0"/>
            </a:endParaRPr>
          </a:p>
          <a:p>
            <a:pPr algn="ctr"/>
            <a:r>
              <a:rPr lang="pt-BR" sz="2000" b="1">
                <a:solidFill>
                  <a:srgbClr val="F8FAFC"/>
                </a:solidFill>
                <a:latin typeface="Calibri" panose="020F0502020204030204" pitchFamily="34" charset="0"/>
              </a:rPr>
              <a:t>Oferecer soluções de TI inovadoras que impulsionem a transformação digital e o crescimento dos nossos clientes.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ED587251-B914-4952-FA16-C43A7D8DF6CF}"/>
              </a:ext>
            </a:extLst>
          </p:cNvPr>
          <p:cNvSpPr/>
          <p:nvPr/>
        </p:nvSpPr>
        <p:spPr>
          <a:xfrm>
            <a:off x="4318000" y="1778000"/>
            <a:ext cx="3556000" cy="4699000"/>
          </a:xfrm>
          <a:prstGeom prst="roundRect">
            <a:avLst/>
          </a:prstGeom>
          <a:solidFill>
            <a:srgbClr val="1A27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b="1">
                <a:solidFill>
                  <a:srgbClr val="F8FAFC"/>
                </a:solidFill>
                <a:latin typeface="Calibri" panose="020F0502020204030204" pitchFamily="34" charset="0"/>
              </a:rPr>
              <a:t>VISÃO</a:t>
            </a:r>
          </a:p>
          <a:p>
            <a:pPr algn="ctr"/>
            <a:endParaRPr lang="pt-BR" sz="2000" b="1">
              <a:solidFill>
                <a:srgbClr val="F8FAFC"/>
              </a:solidFill>
              <a:latin typeface="Calibri" panose="020F0502020204030204" pitchFamily="34" charset="0"/>
            </a:endParaRPr>
          </a:p>
          <a:p>
            <a:pPr algn="ctr"/>
            <a:r>
              <a:rPr lang="pt-BR" sz="2000" b="1">
                <a:solidFill>
                  <a:srgbClr val="F8FAFC"/>
                </a:solidFill>
                <a:latin typeface="Calibri" panose="020F0502020204030204" pitchFamily="34" charset="0"/>
              </a:rPr>
              <a:t>Ser referência nacional em infraestrutura de TI, reconhecida pela excelência técnica e inovação contínua até 2030.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373A4733-B56E-7078-1E33-5B7D65B90F77}"/>
              </a:ext>
            </a:extLst>
          </p:cNvPr>
          <p:cNvSpPr/>
          <p:nvPr/>
        </p:nvSpPr>
        <p:spPr>
          <a:xfrm>
            <a:off x="8128000" y="1778000"/>
            <a:ext cx="3556000" cy="4699000"/>
          </a:xfrm>
          <a:prstGeom prst="roundRect">
            <a:avLst/>
          </a:prstGeom>
          <a:solidFill>
            <a:srgbClr val="1A27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600" b="1">
                <a:solidFill>
                  <a:srgbClr val="F8FAFC"/>
                </a:solidFill>
                <a:latin typeface="Calibri" panose="020F0502020204030204" pitchFamily="34" charset="0"/>
              </a:rPr>
              <a:t>VALORES</a:t>
            </a:r>
          </a:p>
          <a:p>
            <a:endParaRPr lang="pt-BR" sz="1600" b="1">
              <a:solidFill>
                <a:srgbClr val="F8FAFC"/>
              </a:solidFill>
              <a:latin typeface="Calibri" panose="020F0502020204030204" pitchFamily="34" charset="0"/>
            </a:endParaRPr>
          </a:p>
          <a:p>
            <a:r>
              <a:rPr lang="pt-BR" sz="1600" b="1">
                <a:solidFill>
                  <a:srgbClr val="F8FAFC"/>
                </a:solidFill>
                <a:latin typeface="Calibri" panose="020F0502020204030204" pitchFamily="34" charset="0"/>
              </a:rPr>
              <a:t>• Inovação de ponta</a:t>
            </a:r>
          </a:p>
          <a:p>
            <a:r>
              <a:rPr lang="pt-BR" sz="1600" b="1">
                <a:solidFill>
                  <a:srgbClr val="F8FAFC"/>
                </a:solidFill>
                <a:latin typeface="Calibri" panose="020F0502020204030204" pitchFamily="34" charset="0"/>
              </a:rPr>
              <a:t>• Ética e transparência</a:t>
            </a:r>
          </a:p>
          <a:p>
            <a:r>
              <a:rPr lang="pt-BR" sz="1600" b="1">
                <a:solidFill>
                  <a:srgbClr val="F8FAFC"/>
                </a:solidFill>
                <a:latin typeface="Calibri" panose="020F0502020204030204" pitchFamily="34" charset="0"/>
              </a:rPr>
              <a:t>• Compromisso com resultados</a:t>
            </a:r>
          </a:p>
          <a:p>
            <a:r>
              <a:rPr lang="pt-BR" sz="1600" b="1">
                <a:solidFill>
                  <a:srgbClr val="F8FAFC"/>
                </a:solidFill>
                <a:latin typeface="Calibri" panose="020F0502020204030204" pitchFamily="34" charset="0"/>
              </a:rPr>
              <a:t>• Respeito e colaboração</a:t>
            </a:r>
          </a:p>
        </p:txBody>
      </p:sp>
    </p:spTree>
    <p:extLst>
      <p:ext uri="{BB962C8B-B14F-4D97-AF65-F5344CB8AC3E}">
        <p14:creationId xmlns:p14="http://schemas.microsoft.com/office/powerpoint/2010/main" val="38527686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E1993DD8-F31B-091F-5F90-938E2B52ABF4}"/>
              </a:ext>
            </a:extLst>
          </p:cNvPr>
          <p:cNvSpPr/>
          <p:nvPr/>
        </p:nvSpPr>
        <p:spPr>
          <a:xfrm>
            <a:off x="508000" y="381000"/>
            <a:ext cx="1778000" cy="76200"/>
          </a:xfrm>
          <a:prstGeom prst="rect">
            <a:avLst/>
          </a:prstGeom>
          <a:solidFill>
            <a:srgbClr val="22D3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800">
              <a:solidFill>
                <a:srgbClr val="F8FAFC"/>
              </a:solidFill>
              <a:latin typeface="1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E4F141A-1148-CE5C-6B59-E43ECC50B837}"/>
              </a:ext>
            </a:extLst>
          </p:cNvPr>
          <p:cNvSpPr txBox="1"/>
          <p:nvPr/>
        </p:nvSpPr>
        <p:spPr>
          <a:xfrm>
            <a:off x="508000" y="762000"/>
            <a:ext cx="889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3400" b="1">
                <a:solidFill>
                  <a:srgbClr val="F8FAFC"/>
                </a:solidFill>
                <a:latin typeface="Calibri" panose="020F0502020204030204" pitchFamily="34" charset="0"/>
              </a:rPr>
              <a:t>Nossos Produtos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B2DE0A17-DFCC-E211-E630-85F84BBDBAFE}"/>
              </a:ext>
            </a:extLst>
          </p:cNvPr>
          <p:cNvSpPr/>
          <p:nvPr/>
        </p:nvSpPr>
        <p:spPr>
          <a:xfrm>
            <a:off x="508000" y="1778000"/>
            <a:ext cx="3810000" cy="1524000"/>
          </a:xfrm>
          <a:prstGeom prst="roundRect">
            <a:avLst/>
          </a:prstGeom>
          <a:solidFill>
            <a:srgbClr val="1A27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>
                <a:solidFill>
                  <a:srgbClr val="F8FAFC"/>
                </a:solidFill>
                <a:latin typeface="Calibri" panose="020F0502020204030204" pitchFamily="34" charset="0"/>
              </a:rPr>
              <a:t>Servidores</a:t>
            </a:r>
          </a:p>
          <a:p>
            <a:pPr algn="ctr"/>
            <a:endParaRPr lang="pt-BR" sz="1600" b="1">
              <a:solidFill>
                <a:srgbClr val="F8FAFC"/>
              </a:solidFill>
              <a:latin typeface="Calibri" panose="020F0502020204030204" pitchFamily="34" charset="0"/>
            </a:endParaRPr>
          </a:p>
          <a:p>
            <a:pPr algn="ctr"/>
            <a:r>
              <a:rPr lang="pt-BR" sz="1600" b="1">
                <a:solidFill>
                  <a:srgbClr val="F8FAFC"/>
                </a:solidFill>
                <a:latin typeface="Calibri" panose="020F0502020204030204" pitchFamily="34" charset="0"/>
              </a:rPr>
              <a:t>Torre e rack, configurados sob medida para máxima disponibilidade.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DDAF80E1-D105-82C6-7787-46C3204DDE05}"/>
              </a:ext>
            </a:extLst>
          </p:cNvPr>
          <p:cNvSpPr/>
          <p:nvPr/>
        </p:nvSpPr>
        <p:spPr>
          <a:xfrm>
            <a:off x="4635500" y="1778000"/>
            <a:ext cx="3810000" cy="1524000"/>
          </a:xfrm>
          <a:prstGeom prst="roundRect">
            <a:avLst/>
          </a:prstGeom>
          <a:solidFill>
            <a:srgbClr val="1A27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>
                <a:solidFill>
                  <a:srgbClr val="F8FAFC"/>
                </a:solidFill>
                <a:latin typeface="Calibri" panose="020F0502020204030204" pitchFamily="34" charset="0"/>
              </a:rPr>
              <a:t>Cabeamento Estruturado</a:t>
            </a:r>
          </a:p>
          <a:p>
            <a:pPr algn="ctr"/>
            <a:endParaRPr lang="pt-BR" sz="1600" b="1">
              <a:solidFill>
                <a:srgbClr val="F8FAFC"/>
              </a:solidFill>
              <a:latin typeface="Calibri" panose="020F0502020204030204" pitchFamily="34" charset="0"/>
            </a:endParaRPr>
          </a:p>
          <a:p>
            <a:pPr algn="ctr"/>
            <a:r>
              <a:rPr lang="pt-BR" sz="1600" b="1">
                <a:solidFill>
                  <a:srgbClr val="F8FAFC"/>
                </a:solidFill>
                <a:latin typeface="Calibri" panose="020F0502020204030204" pitchFamily="34" charset="0"/>
              </a:rPr>
              <a:t>Cat 5e, Cat 6 e fibra óptica para alta performance.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3C71B9EC-5AA5-5BE8-14B3-BB6FAFEC607F}"/>
              </a:ext>
            </a:extLst>
          </p:cNvPr>
          <p:cNvSpPr/>
          <p:nvPr/>
        </p:nvSpPr>
        <p:spPr>
          <a:xfrm>
            <a:off x="8763000" y="1778000"/>
            <a:ext cx="3810000" cy="1524000"/>
          </a:xfrm>
          <a:prstGeom prst="roundRect">
            <a:avLst/>
          </a:prstGeom>
          <a:solidFill>
            <a:srgbClr val="1A27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>
                <a:solidFill>
                  <a:srgbClr val="F8FAFC"/>
                </a:solidFill>
                <a:latin typeface="Calibri" panose="020F0502020204030204" pitchFamily="34" charset="0"/>
              </a:rPr>
              <a:t>Computadores</a:t>
            </a:r>
          </a:p>
          <a:p>
            <a:pPr algn="ctr"/>
            <a:endParaRPr lang="pt-BR" sz="1600" b="1">
              <a:solidFill>
                <a:srgbClr val="F8FAFC"/>
              </a:solidFill>
              <a:latin typeface="Calibri" panose="020F0502020204030204" pitchFamily="34" charset="0"/>
            </a:endParaRPr>
          </a:p>
          <a:p>
            <a:pPr algn="ctr"/>
            <a:r>
              <a:rPr lang="pt-BR" sz="1600" b="1">
                <a:solidFill>
                  <a:srgbClr val="F8FAFC"/>
                </a:solidFill>
                <a:latin typeface="Calibri" panose="020F0502020204030204" pitchFamily="34" charset="0"/>
              </a:rPr>
              <a:t>Desktops corporativos e pessoais configurados.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98E96A7D-6E63-E8B5-82DF-C89E96A3995E}"/>
              </a:ext>
            </a:extLst>
          </p:cNvPr>
          <p:cNvSpPr/>
          <p:nvPr/>
        </p:nvSpPr>
        <p:spPr>
          <a:xfrm>
            <a:off x="508000" y="3556000"/>
            <a:ext cx="3810000" cy="1524000"/>
          </a:xfrm>
          <a:prstGeom prst="roundRect">
            <a:avLst/>
          </a:prstGeom>
          <a:solidFill>
            <a:srgbClr val="1A27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>
                <a:solidFill>
                  <a:srgbClr val="F8FAFC"/>
                </a:solidFill>
                <a:latin typeface="Calibri" panose="020F0502020204030204" pitchFamily="34" charset="0"/>
              </a:rPr>
              <a:t>Equipamentos de Rede</a:t>
            </a:r>
          </a:p>
          <a:p>
            <a:pPr algn="ctr"/>
            <a:endParaRPr lang="pt-BR" sz="1600" b="1">
              <a:solidFill>
                <a:srgbClr val="F8FAFC"/>
              </a:solidFill>
              <a:latin typeface="Calibri" panose="020F0502020204030204" pitchFamily="34" charset="0"/>
            </a:endParaRPr>
          </a:p>
          <a:p>
            <a:pPr algn="ctr"/>
            <a:r>
              <a:rPr lang="pt-BR" sz="1600" b="1">
                <a:solidFill>
                  <a:srgbClr val="F8FAFC"/>
                </a:solidFill>
                <a:latin typeface="Calibri" panose="020F0502020204030204" pitchFamily="34" charset="0"/>
              </a:rPr>
              <a:t>Switches, roteadores e access points confiáveis.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30B825EB-2D60-0B9B-5856-47F5FC54415A}"/>
              </a:ext>
            </a:extLst>
          </p:cNvPr>
          <p:cNvSpPr/>
          <p:nvPr/>
        </p:nvSpPr>
        <p:spPr>
          <a:xfrm>
            <a:off x="4635500" y="3556000"/>
            <a:ext cx="3810000" cy="1524000"/>
          </a:xfrm>
          <a:prstGeom prst="roundRect">
            <a:avLst/>
          </a:prstGeom>
          <a:solidFill>
            <a:srgbClr val="1A27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>
                <a:solidFill>
                  <a:srgbClr val="F8FAFC"/>
                </a:solidFill>
                <a:latin typeface="Calibri" panose="020F0502020204030204" pitchFamily="34" charset="0"/>
              </a:rPr>
              <a:t>Armazenamento</a:t>
            </a:r>
          </a:p>
          <a:p>
            <a:pPr algn="ctr"/>
            <a:endParaRPr lang="pt-BR" sz="1600" b="1">
              <a:solidFill>
                <a:srgbClr val="F8FAFC"/>
              </a:solidFill>
              <a:latin typeface="Calibri" panose="020F0502020204030204" pitchFamily="34" charset="0"/>
            </a:endParaRPr>
          </a:p>
          <a:p>
            <a:pPr algn="ctr"/>
            <a:r>
              <a:rPr lang="pt-BR" sz="1600" b="1">
                <a:solidFill>
                  <a:srgbClr val="F8FAFC"/>
                </a:solidFill>
                <a:latin typeface="Calibri" panose="020F0502020204030204" pitchFamily="34" charset="0"/>
              </a:rPr>
              <a:t>Segurança e disponibilidade dos dados da empresa.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5EAB78C7-7AEB-A08C-DA1C-E3F5F42FF4AD}"/>
              </a:ext>
            </a:extLst>
          </p:cNvPr>
          <p:cNvSpPr/>
          <p:nvPr/>
        </p:nvSpPr>
        <p:spPr>
          <a:xfrm>
            <a:off x="8763000" y="3556000"/>
            <a:ext cx="3810000" cy="1524000"/>
          </a:xfrm>
          <a:prstGeom prst="roundRect">
            <a:avLst/>
          </a:prstGeom>
          <a:solidFill>
            <a:srgbClr val="1A27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>
                <a:solidFill>
                  <a:srgbClr val="F8FAFC"/>
                </a:solidFill>
                <a:latin typeface="Calibri" panose="020F0502020204030204" pitchFamily="34" charset="0"/>
              </a:rPr>
              <a:t>No-Breaks e Energia</a:t>
            </a:r>
          </a:p>
          <a:p>
            <a:pPr algn="ctr"/>
            <a:endParaRPr lang="pt-BR" sz="1600" b="1">
              <a:solidFill>
                <a:srgbClr val="F8FAFC"/>
              </a:solidFill>
              <a:latin typeface="Calibri" panose="020F0502020204030204" pitchFamily="34" charset="0"/>
            </a:endParaRPr>
          </a:p>
          <a:p>
            <a:pPr algn="ctr"/>
            <a:r>
              <a:rPr lang="pt-BR" sz="1600" b="1">
                <a:solidFill>
                  <a:srgbClr val="F8FAFC"/>
                </a:solidFill>
                <a:latin typeface="Calibri" panose="020F0502020204030204" pitchFamily="34" charset="0"/>
              </a:rPr>
              <a:t>Proteção contra interrupções no negócio.</a:t>
            </a:r>
          </a:p>
        </p:txBody>
      </p:sp>
    </p:spTree>
    <p:extLst>
      <p:ext uri="{BB962C8B-B14F-4D97-AF65-F5344CB8AC3E}">
        <p14:creationId xmlns:p14="http://schemas.microsoft.com/office/powerpoint/2010/main" val="41290396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5D718B9-B69E-EC99-4AF9-8078D1AC60A3}"/>
              </a:ext>
            </a:extLst>
          </p:cNvPr>
          <p:cNvSpPr/>
          <p:nvPr/>
        </p:nvSpPr>
        <p:spPr>
          <a:xfrm>
            <a:off x="508000" y="381000"/>
            <a:ext cx="1778000" cy="76200"/>
          </a:xfrm>
          <a:prstGeom prst="rect">
            <a:avLst/>
          </a:prstGeom>
          <a:solidFill>
            <a:srgbClr val="22D3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800">
              <a:solidFill>
                <a:srgbClr val="F8FAFC"/>
              </a:solidFill>
              <a:latin typeface="1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B1209BB-6222-D8A8-C0A0-8A608FD9919A}"/>
              </a:ext>
            </a:extLst>
          </p:cNvPr>
          <p:cNvSpPr txBox="1"/>
          <p:nvPr/>
        </p:nvSpPr>
        <p:spPr>
          <a:xfrm>
            <a:off x="508000" y="762000"/>
            <a:ext cx="889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3400" b="1">
                <a:solidFill>
                  <a:srgbClr val="F8FAFC"/>
                </a:solidFill>
                <a:latin typeface="Calibri" panose="020F0502020204030204" pitchFamily="34" charset="0"/>
              </a:rPr>
              <a:t>Nossos Serviços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1D9CA6C2-4BE1-B410-0150-40E574A4A8BA}"/>
              </a:ext>
            </a:extLst>
          </p:cNvPr>
          <p:cNvSpPr/>
          <p:nvPr/>
        </p:nvSpPr>
        <p:spPr>
          <a:xfrm>
            <a:off x="508000" y="1778000"/>
            <a:ext cx="3810000" cy="1524000"/>
          </a:xfrm>
          <a:prstGeom prst="roundRect">
            <a:avLst/>
          </a:prstGeom>
          <a:solidFill>
            <a:srgbClr val="1A27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>
                <a:solidFill>
                  <a:srgbClr val="F8FAFC"/>
                </a:solidFill>
                <a:latin typeface="Calibri" panose="020F0502020204030204" pitchFamily="34" charset="0"/>
              </a:rPr>
              <a:t>Infraestrutura em Cloud</a:t>
            </a:r>
          </a:p>
          <a:p>
            <a:pPr algn="ctr"/>
            <a:endParaRPr lang="pt-BR" sz="1600" b="1">
              <a:solidFill>
                <a:srgbClr val="F8FAFC"/>
              </a:solidFill>
              <a:latin typeface="Calibri" panose="020F0502020204030204" pitchFamily="34" charset="0"/>
            </a:endParaRPr>
          </a:p>
          <a:p>
            <a:pPr algn="ctr"/>
            <a:r>
              <a:rPr lang="pt-BR" sz="1600" b="1">
                <a:solidFill>
                  <a:srgbClr val="F8FAFC"/>
                </a:solidFill>
                <a:latin typeface="Calibri" panose="020F0502020204030204" pitchFamily="34" charset="0"/>
              </a:rPr>
              <a:t>Migração, gerenciamento e otimização de nuvem.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D10DDB25-0709-E34C-0868-732FE05C861C}"/>
              </a:ext>
            </a:extLst>
          </p:cNvPr>
          <p:cNvSpPr/>
          <p:nvPr/>
        </p:nvSpPr>
        <p:spPr>
          <a:xfrm>
            <a:off x="4635500" y="1778000"/>
            <a:ext cx="3810000" cy="1524000"/>
          </a:xfrm>
          <a:prstGeom prst="roundRect">
            <a:avLst/>
          </a:prstGeom>
          <a:solidFill>
            <a:srgbClr val="1A27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>
                <a:solidFill>
                  <a:srgbClr val="F8FAFC"/>
                </a:solidFill>
                <a:latin typeface="Calibri" panose="020F0502020204030204" pitchFamily="34" charset="0"/>
              </a:rPr>
              <a:t>Cibersegurança</a:t>
            </a:r>
          </a:p>
          <a:p>
            <a:pPr algn="ctr"/>
            <a:endParaRPr lang="pt-BR" sz="1600" b="1">
              <a:solidFill>
                <a:srgbClr val="F8FAFC"/>
              </a:solidFill>
              <a:latin typeface="Calibri" panose="020F0502020204030204" pitchFamily="34" charset="0"/>
            </a:endParaRPr>
          </a:p>
          <a:p>
            <a:pPr algn="ctr"/>
            <a:r>
              <a:rPr lang="pt-BR" sz="1600" b="1">
                <a:solidFill>
                  <a:srgbClr val="F8FAFC"/>
                </a:solidFill>
                <a:latin typeface="Calibri" panose="020F0502020204030204" pitchFamily="34" charset="0"/>
              </a:rPr>
              <a:t>Proteção avançada com monitoramento 24/7.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8A805863-EAAA-C81D-180A-8AFF9F440C4E}"/>
              </a:ext>
            </a:extLst>
          </p:cNvPr>
          <p:cNvSpPr/>
          <p:nvPr/>
        </p:nvSpPr>
        <p:spPr>
          <a:xfrm>
            <a:off x="8763000" y="1778000"/>
            <a:ext cx="3810000" cy="1524000"/>
          </a:xfrm>
          <a:prstGeom prst="roundRect">
            <a:avLst/>
          </a:prstGeom>
          <a:solidFill>
            <a:srgbClr val="1A27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>
                <a:solidFill>
                  <a:srgbClr val="F8FAFC"/>
                </a:solidFill>
                <a:latin typeface="Calibri" panose="020F0502020204030204" pitchFamily="34" charset="0"/>
              </a:rPr>
              <a:t>Desenvolvimento de Software</a:t>
            </a:r>
          </a:p>
          <a:p>
            <a:pPr algn="ctr"/>
            <a:endParaRPr lang="pt-BR" sz="1600" b="1">
              <a:solidFill>
                <a:srgbClr val="F8FAFC"/>
              </a:solidFill>
              <a:latin typeface="Calibri" panose="020F0502020204030204" pitchFamily="34" charset="0"/>
            </a:endParaRPr>
          </a:p>
          <a:p>
            <a:pPr algn="ctr"/>
            <a:r>
              <a:rPr lang="pt-BR" sz="1600" b="1">
                <a:solidFill>
                  <a:srgbClr val="F8FAFC"/>
                </a:solidFill>
                <a:latin typeface="Calibri" panose="020F0502020204030204" pitchFamily="34" charset="0"/>
              </a:rPr>
              <a:t>Soluções sob medida para automatizar processos.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E47951A6-D8BF-85A0-8232-5A695FB03729}"/>
              </a:ext>
            </a:extLst>
          </p:cNvPr>
          <p:cNvSpPr/>
          <p:nvPr/>
        </p:nvSpPr>
        <p:spPr>
          <a:xfrm>
            <a:off x="508000" y="3556000"/>
            <a:ext cx="3810000" cy="1524000"/>
          </a:xfrm>
          <a:prstGeom prst="roundRect">
            <a:avLst/>
          </a:prstGeom>
          <a:solidFill>
            <a:srgbClr val="1A27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>
                <a:solidFill>
                  <a:srgbClr val="F8FAFC"/>
                </a:solidFill>
                <a:latin typeface="Calibri" panose="020F0502020204030204" pitchFamily="34" charset="0"/>
              </a:rPr>
              <a:t>Redes e Conectividade</a:t>
            </a:r>
          </a:p>
          <a:p>
            <a:pPr algn="ctr"/>
            <a:endParaRPr lang="pt-BR" sz="1600" b="1">
              <a:solidFill>
                <a:srgbClr val="F8FAFC"/>
              </a:solidFill>
              <a:latin typeface="Calibri" panose="020F0502020204030204" pitchFamily="34" charset="0"/>
            </a:endParaRPr>
          </a:p>
          <a:p>
            <a:pPr algn="ctr"/>
            <a:r>
              <a:rPr lang="pt-BR" sz="1600" b="1">
                <a:solidFill>
                  <a:srgbClr val="F8FAFC"/>
                </a:solidFill>
                <a:latin typeface="Calibri" panose="020F0502020204030204" pitchFamily="34" charset="0"/>
              </a:rPr>
              <a:t>Infraestrutura de rede de alta performance.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9B6C591E-135C-3B98-8FE2-30E05720AACF}"/>
              </a:ext>
            </a:extLst>
          </p:cNvPr>
          <p:cNvSpPr/>
          <p:nvPr/>
        </p:nvSpPr>
        <p:spPr>
          <a:xfrm>
            <a:off x="4635500" y="3556000"/>
            <a:ext cx="3810000" cy="1524000"/>
          </a:xfrm>
          <a:prstGeom prst="roundRect">
            <a:avLst/>
          </a:prstGeom>
          <a:solidFill>
            <a:srgbClr val="1A27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>
                <a:solidFill>
                  <a:srgbClr val="F8FAFC"/>
                </a:solidFill>
                <a:latin typeface="Calibri" panose="020F0502020204030204" pitchFamily="34" charset="0"/>
              </a:rPr>
              <a:t>Suporte Técnico</a:t>
            </a:r>
          </a:p>
          <a:p>
            <a:pPr algn="ctr"/>
            <a:endParaRPr lang="pt-BR" sz="1600" b="1">
              <a:solidFill>
                <a:srgbClr val="F8FAFC"/>
              </a:solidFill>
              <a:latin typeface="Calibri" panose="020F0502020204030204" pitchFamily="34" charset="0"/>
            </a:endParaRPr>
          </a:p>
          <a:p>
            <a:pPr algn="ctr"/>
            <a:r>
              <a:rPr lang="pt-BR" sz="1600" b="1">
                <a:solidFill>
                  <a:srgbClr val="F8FAFC"/>
                </a:solidFill>
                <a:latin typeface="Calibri" panose="020F0502020204030204" pitchFamily="34" charset="0"/>
              </a:rPr>
              <a:t>Assistência especializada com resposta garantida.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34407F21-79F5-48B9-E5F7-F3A7E979CD40}"/>
              </a:ext>
            </a:extLst>
          </p:cNvPr>
          <p:cNvSpPr/>
          <p:nvPr/>
        </p:nvSpPr>
        <p:spPr>
          <a:xfrm>
            <a:off x="8763000" y="3556000"/>
            <a:ext cx="3810000" cy="1524000"/>
          </a:xfrm>
          <a:prstGeom prst="roundRect">
            <a:avLst/>
          </a:prstGeom>
          <a:solidFill>
            <a:srgbClr val="1A27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>
                <a:solidFill>
                  <a:srgbClr val="F8FAFC"/>
                </a:solidFill>
                <a:latin typeface="Calibri" panose="020F0502020204030204" pitchFamily="34" charset="0"/>
              </a:rPr>
              <a:t>Gestão de Dados</a:t>
            </a:r>
          </a:p>
          <a:p>
            <a:pPr algn="ctr"/>
            <a:endParaRPr lang="pt-BR" sz="1600" b="1">
              <a:solidFill>
                <a:srgbClr val="F8FAFC"/>
              </a:solidFill>
              <a:latin typeface="Calibri" panose="020F0502020204030204" pitchFamily="34" charset="0"/>
            </a:endParaRPr>
          </a:p>
          <a:p>
            <a:pPr algn="ctr"/>
            <a:r>
              <a:rPr lang="pt-BR" sz="1600" b="1">
                <a:solidFill>
                  <a:srgbClr val="F8FAFC"/>
                </a:solidFill>
                <a:latin typeface="Calibri" panose="020F0502020204030204" pitchFamily="34" charset="0"/>
              </a:rPr>
              <a:t>Armazenamento, backup e recuperação seguros.</a:t>
            </a:r>
          </a:p>
        </p:txBody>
      </p:sp>
    </p:spTree>
    <p:extLst>
      <p:ext uri="{BB962C8B-B14F-4D97-AF65-F5344CB8AC3E}">
        <p14:creationId xmlns:p14="http://schemas.microsoft.com/office/powerpoint/2010/main" val="30665741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2DC7AFC-2933-B29E-0308-AE8FF4BBA713}"/>
              </a:ext>
            </a:extLst>
          </p:cNvPr>
          <p:cNvSpPr/>
          <p:nvPr/>
        </p:nvSpPr>
        <p:spPr>
          <a:xfrm>
            <a:off x="508000" y="381000"/>
            <a:ext cx="1778000" cy="76200"/>
          </a:xfrm>
          <a:prstGeom prst="rect">
            <a:avLst/>
          </a:prstGeom>
          <a:solidFill>
            <a:srgbClr val="22D3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800">
              <a:solidFill>
                <a:srgbClr val="F8FAFC"/>
              </a:solidFill>
              <a:latin typeface="1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93CD659-3AD6-C486-A237-40A4BBDAAD6D}"/>
              </a:ext>
            </a:extLst>
          </p:cNvPr>
          <p:cNvSpPr txBox="1"/>
          <p:nvPr/>
        </p:nvSpPr>
        <p:spPr>
          <a:xfrm>
            <a:off x="508000" y="762000"/>
            <a:ext cx="889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3400" b="1">
                <a:solidFill>
                  <a:srgbClr val="F8FAFC"/>
                </a:solidFill>
                <a:latin typeface="Calibri" panose="020F0502020204030204" pitchFamily="34" charset="0"/>
              </a:rPr>
              <a:t>Impacto em Números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D74A2472-18E5-99E3-57A9-0CD01D287695}"/>
              </a:ext>
            </a:extLst>
          </p:cNvPr>
          <p:cNvSpPr/>
          <p:nvPr/>
        </p:nvSpPr>
        <p:spPr>
          <a:xfrm>
            <a:off x="762000" y="2286000"/>
            <a:ext cx="3175000" cy="2540000"/>
          </a:xfrm>
          <a:prstGeom prst="roundRect">
            <a:avLst/>
          </a:prstGeom>
          <a:solidFill>
            <a:srgbClr val="1A27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 b="1">
                <a:solidFill>
                  <a:srgbClr val="22D3EE"/>
                </a:solidFill>
                <a:latin typeface="Calibri" panose="020F0502020204030204" pitchFamily="34" charset="0"/>
              </a:rPr>
              <a:t>+300</a:t>
            </a:r>
          </a:p>
          <a:p>
            <a:pPr algn="ctr"/>
            <a:endParaRPr lang="pt-BR" sz="4400" b="1">
              <a:solidFill>
                <a:srgbClr val="22D3EE"/>
              </a:solidFill>
              <a:latin typeface="Calibri" panose="020F0502020204030204" pitchFamily="34" charset="0"/>
            </a:endParaRPr>
          </a:p>
          <a:p>
            <a:pPr algn="ctr"/>
            <a:r>
              <a:rPr lang="pt-BR" sz="4400" b="1">
                <a:solidFill>
                  <a:srgbClr val="22D3EE"/>
                </a:solidFill>
                <a:latin typeface="Calibri" panose="020F0502020204030204" pitchFamily="34" charset="0"/>
              </a:rPr>
              <a:t>Projetos Entregues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0E49590C-F423-000D-60C4-D090A9F3577A}"/>
              </a:ext>
            </a:extLst>
          </p:cNvPr>
          <p:cNvSpPr/>
          <p:nvPr/>
        </p:nvSpPr>
        <p:spPr>
          <a:xfrm>
            <a:off x="4508500" y="2286000"/>
            <a:ext cx="3175000" cy="2540000"/>
          </a:xfrm>
          <a:prstGeom prst="roundRect">
            <a:avLst/>
          </a:prstGeom>
          <a:solidFill>
            <a:srgbClr val="1A27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 b="1">
                <a:solidFill>
                  <a:srgbClr val="22D3EE"/>
                </a:solidFill>
                <a:latin typeface="Calibri" panose="020F0502020204030204" pitchFamily="34" charset="0"/>
              </a:rPr>
              <a:t>+20</a:t>
            </a:r>
          </a:p>
          <a:p>
            <a:pPr algn="ctr"/>
            <a:endParaRPr lang="pt-BR" sz="4400" b="1">
              <a:solidFill>
                <a:srgbClr val="22D3EE"/>
              </a:solidFill>
              <a:latin typeface="Calibri" panose="020F0502020204030204" pitchFamily="34" charset="0"/>
            </a:endParaRPr>
          </a:p>
          <a:p>
            <a:pPr algn="ctr"/>
            <a:r>
              <a:rPr lang="pt-BR" sz="4400" b="1">
                <a:solidFill>
                  <a:srgbClr val="22D3EE"/>
                </a:solidFill>
                <a:latin typeface="Calibri" panose="020F0502020204030204" pitchFamily="34" charset="0"/>
              </a:rPr>
              <a:t>Anos de Experiência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B1A81455-AF0C-794B-EDA9-6E9C7C9DC690}"/>
              </a:ext>
            </a:extLst>
          </p:cNvPr>
          <p:cNvSpPr/>
          <p:nvPr/>
        </p:nvSpPr>
        <p:spPr>
          <a:xfrm>
            <a:off x="8255000" y="2286000"/>
            <a:ext cx="3175000" cy="2540000"/>
          </a:xfrm>
          <a:prstGeom prst="roundRect">
            <a:avLst/>
          </a:prstGeom>
          <a:solidFill>
            <a:srgbClr val="1A27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 b="1">
                <a:solidFill>
                  <a:srgbClr val="22D3EE"/>
                </a:solidFill>
                <a:latin typeface="Calibri" panose="020F0502020204030204" pitchFamily="34" charset="0"/>
              </a:rPr>
              <a:t>+100</a:t>
            </a:r>
          </a:p>
          <a:p>
            <a:pPr algn="ctr"/>
            <a:endParaRPr lang="pt-BR" sz="4400" b="1">
              <a:solidFill>
                <a:srgbClr val="22D3EE"/>
              </a:solidFill>
              <a:latin typeface="Calibri" panose="020F0502020204030204" pitchFamily="34" charset="0"/>
            </a:endParaRPr>
          </a:p>
          <a:p>
            <a:pPr algn="ctr"/>
            <a:r>
              <a:rPr lang="pt-BR" sz="4400" b="1">
                <a:solidFill>
                  <a:srgbClr val="22D3EE"/>
                </a:solidFill>
                <a:latin typeface="Calibri" panose="020F0502020204030204" pitchFamily="34" charset="0"/>
              </a:rPr>
              <a:t>Clientes Satisfeitos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734A85F1-B975-1C83-A830-3ED55D335437}"/>
              </a:ext>
            </a:extLst>
          </p:cNvPr>
          <p:cNvSpPr/>
          <p:nvPr/>
        </p:nvSpPr>
        <p:spPr>
          <a:xfrm>
            <a:off x="762000" y="5334000"/>
            <a:ext cx="10668000" cy="762000"/>
          </a:xfrm>
          <a:prstGeom prst="roundRect">
            <a:avLst/>
          </a:prstGeom>
          <a:solidFill>
            <a:srgbClr val="3B82F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rgbClr val="0A0F1C"/>
                </a:solidFill>
                <a:latin typeface="Calibri" panose="020F0502020204030204" pitchFamily="34" charset="0"/>
              </a:rPr>
              <a:t>Excelência, segurança e performance em cada projeto.</a:t>
            </a:r>
          </a:p>
        </p:txBody>
      </p:sp>
    </p:spTree>
    <p:extLst>
      <p:ext uri="{BB962C8B-B14F-4D97-AF65-F5344CB8AC3E}">
        <p14:creationId xmlns:p14="http://schemas.microsoft.com/office/powerpoint/2010/main" val="1055126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3990B5A1-7232-B3BA-30D9-0E784308B7F8}"/>
              </a:ext>
            </a:extLst>
          </p:cNvPr>
          <p:cNvSpPr/>
          <p:nvPr/>
        </p:nvSpPr>
        <p:spPr>
          <a:xfrm>
            <a:off x="508000" y="381000"/>
            <a:ext cx="1778000" cy="76200"/>
          </a:xfrm>
          <a:prstGeom prst="rect">
            <a:avLst/>
          </a:prstGeom>
          <a:solidFill>
            <a:srgbClr val="22D3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800">
              <a:solidFill>
                <a:srgbClr val="F8FAFC"/>
              </a:solidFill>
              <a:latin typeface="1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D0FE501-D51E-7517-B02B-C02DD55B8F8E}"/>
              </a:ext>
            </a:extLst>
          </p:cNvPr>
          <p:cNvSpPr txBox="1"/>
          <p:nvPr/>
        </p:nvSpPr>
        <p:spPr>
          <a:xfrm>
            <a:off x="508000" y="762000"/>
            <a:ext cx="889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3400" b="1">
                <a:solidFill>
                  <a:srgbClr val="F8FAFC"/>
                </a:solidFill>
                <a:latin typeface="Calibri" panose="020F0502020204030204" pitchFamily="34" charset="0"/>
              </a:rPr>
              <a:t>Fale Conosco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6A65091E-15A3-E597-6EFC-FFC13670F899}"/>
              </a:ext>
            </a:extLst>
          </p:cNvPr>
          <p:cNvSpPr/>
          <p:nvPr/>
        </p:nvSpPr>
        <p:spPr>
          <a:xfrm>
            <a:off x="762000" y="1905000"/>
            <a:ext cx="3302000" cy="1651000"/>
          </a:xfrm>
          <a:prstGeom prst="roundRect">
            <a:avLst/>
          </a:prstGeom>
          <a:solidFill>
            <a:srgbClr val="1A27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>
                <a:solidFill>
                  <a:srgbClr val="F8FAFC"/>
                </a:solidFill>
                <a:latin typeface="Calibri" panose="020F0502020204030204" pitchFamily="34" charset="0"/>
              </a:rPr>
              <a:t>E-MAIL</a:t>
            </a:r>
          </a:p>
          <a:p>
            <a:pPr algn="ctr"/>
            <a:endParaRPr lang="pt-BR" sz="1600" b="1">
              <a:solidFill>
                <a:srgbClr val="F8FAFC"/>
              </a:solidFill>
              <a:latin typeface="Calibri" panose="020F0502020204030204" pitchFamily="34" charset="0"/>
            </a:endParaRPr>
          </a:p>
          <a:p>
            <a:pPr algn="ctr"/>
            <a:r>
              <a:rPr lang="pt-BR" sz="1600" b="1">
                <a:solidFill>
                  <a:srgbClr val="F8FAFC"/>
                </a:solidFill>
                <a:latin typeface="Calibri" panose="020F0502020204030204" pitchFamily="34" charset="0"/>
              </a:rPr>
              <a:t>contato@infowebti.com.br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54B07E15-68EA-367B-03FD-E2B107B5E12A}"/>
              </a:ext>
            </a:extLst>
          </p:cNvPr>
          <p:cNvSpPr/>
          <p:nvPr/>
        </p:nvSpPr>
        <p:spPr>
          <a:xfrm>
            <a:off x="4445000" y="1905000"/>
            <a:ext cx="3302000" cy="1651000"/>
          </a:xfrm>
          <a:prstGeom prst="roundRect">
            <a:avLst/>
          </a:prstGeom>
          <a:solidFill>
            <a:srgbClr val="1A27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rgbClr val="F8FAFC"/>
                </a:solidFill>
                <a:latin typeface="Calibri" panose="020F0502020204030204" pitchFamily="34" charset="0"/>
              </a:rPr>
              <a:t>TELEFONE</a:t>
            </a:r>
          </a:p>
          <a:p>
            <a:pPr algn="ctr"/>
            <a:endParaRPr lang="pt-BR" b="1">
              <a:solidFill>
                <a:srgbClr val="F8FAFC"/>
              </a:solidFill>
              <a:latin typeface="Calibri" panose="020F0502020204030204" pitchFamily="34" charset="0"/>
            </a:endParaRPr>
          </a:p>
          <a:p>
            <a:pPr algn="ctr"/>
            <a:r>
              <a:rPr lang="pt-BR" b="1">
                <a:solidFill>
                  <a:srgbClr val="F8FAFC"/>
                </a:solidFill>
                <a:latin typeface="Calibri" panose="020F0502020204030204" pitchFamily="34" charset="0"/>
              </a:rPr>
              <a:t>(11) 99999-9999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DAF08ACB-CE53-27EA-FFFE-40604AE385D4}"/>
              </a:ext>
            </a:extLst>
          </p:cNvPr>
          <p:cNvSpPr/>
          <p:nvPr/>
        </p:nvSpPr>
        <p:spPr>
          <a:xfrm>
            <a:off x="8128000" y="1905000"/>
            <a:ext cx="3302000" cy="1651000"/>
          </a:xfrm>
          <a:prstGeom prst="roundRect">
            <a:avLst/>
          </a:prstGeom>
          <a:solidFill>
            <a:srgbClr val="1A27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>
                <a:solidFill>
                  <a:srgbClr val="F8FAFC"/>
                </a:solidFill>
                <a:latin typeface="Calibri" panose="020F0502020204030204" pitchFamily="34" charset="0"/>
              </a:rPr>
              <a:t>ENDEREÇO</a:t>
            </a:r>
          </a:p>
          <a:p>
            <a:pPr algn="ctr"/>
            <a:endParaRPr lang="pt-BR" sz="1600" b="1">
              <a:solidFill>
                <a:srgbClr val="F8FAFC"/>
              </a:solidFill>
              <a:latin typeface="Calibri" panose="020F0502020204030204" pitchFamily="34" charset="0"/>
            </a:endParaRPr>
          </a:p>
          <a:p>
            <a:pPr algn="ctr"/>
            <a:r>
              <a:rPr lang="pt-BR" sz="1600" b="1">
                <a:solidFill>
                  <a:srgbClr val="F8FAFC"/>
                </a:solidFill>
                <a:latin typeface="Calibri" panose="020F0502020204030204" pitchFamily="34" charset="0"/>
              </a:rPr>
              <a:t>Rua Dois, 134 - Taubaté/SP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200C000E-8AFD-0B9B-7A3C-740A6D6952C4}"/>
              </a:ext>
            </a:extLst>
          </p:cNvPr>
          <p:cNvSpPr/>
          <p:nvPr/>
        </p:nvSpPr>
        <p:spPr>
          <a:xfrm>
            <a:off x="2540000" y="4318000"/>
            <a:ext cx="7112000" cy="1143000"/>
          </a:xfrm>
          <a:prstGeom prst="roundRect">
            <a:avLst/>
          </a:prstGeom>
          <a:solidFill>
            <a:srgbClr val="3B82F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rgbClr val="0A0F1C"/>
                </a:solidFill>
                <a:latin typeface="Calibri" panose="020F0502020204030204" pitchFamily="34" charset="0"/>
              </a:rPr>
              <a:t>Solicite um orçamento sem compromisso em www.infowebti.com.br</a:t>
            </a:r>
          </a:p>
        </p:txBody>
      </p:sp>
    </p:spTree>
    <p:extLst>
      <p:ext uri="{BB962C8B-B14F-4D97-AF65-F5344CB8AC3E}">
        <p14:creationId xmlns:p14="http://schemas.microsoft.com/office/powerpoint/2010/main" val="21408887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8BF5F26E-AFA2-0888-889A-76657EEB1344}"/>
              </a:ext>
            </a:extLst>
          </p:cNvPr>
          <p:cNvSpPr txBox="1"/>
          <p:nvPr/>
        </p:nvSpPr>
        <p:spPr>
          <a:xfrm>
            <a:off x="1651000" y="2286000"/>
            <a:ext cx="889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5400" b="1">
                <a:solidFill>
                  <a:srgbClr val="F8FAFC"/>
                </a:solidFill>
                <a:latin typeface="Calibri" panose="020F0502020204030204" pitchFamily="34" charset="0"/>
              </a:rPr>
              <a:t>Obrigado!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825C951D-D91C-F4C3-25D8-5074378C0CA9}"/>
              </a:ext>
            </a:extLst>
          </p:cNvPr>
          <p:cNvSpPr txBox="1"/>
          <p:nvPr/>
        </p:nvSpPr>
        <p:spPr>
          <a:xfrm>
            <a:off x="1651000" y="3556000"/>
            <a:ext cx="889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2200" b="1">
                <a:solidFill>
                  <a:srgbClr val="22D3EE"/>
                </a:solidFill>
                <a:latin typeface="Calibri" panose="020F0502020204030204" pitchFamily="34" charset="0"/>
              </a:rPr>
              <a:t>Vamos construir o futuro juntos.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5DAC62D-FE63-F607-2627-C8281BADA46D}"/>
              </a:ext>
            </a:extLst>
          </p:cNvPr>
          <p:cNvSpPr txBox="1"/>
          <p:nvPr/>
        </p:nvSpPr>
        <p:spPr>
          <a:xfrm>
            <a:off x="1651000" y="5080000"/>
            <a:ext cx="889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3000" b="1">
                <a:solidFill>
                  <a:srgbClr val="3B82F6"/>
                </a:solidFill>
                <a:latin typeface="Calibri" panose="020F0502020204030204" pitchFamily="34" charset="0"/>
              </a:rPr>
              <a:t>INFOWEBTI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1F432653-295D-7A2D-2D7C-2CE32E0D16A2}"/>
              </a:ext>
            </a:extLst>
          </p:cNvPr>
          <p:cNvSpPr txBox="1"/>
          <p:nvPr/>
        </p:nvSpPr>
        <p:spPr>
          <a:xfrm>
            <a:off x="1651000" y="5651500"/>
            <a:ext cx="889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1400">
                <a:solidFill>
                  <a:srgbClr val="94A3B8"/>
                </a:solidFill>
                <a:latin typeface="Calibri" panose="020F0502020204030204" pitchFamily="34" charset="0"/>
              </a:rPr>
              <a:t>Technology Solutions • www.infowebti.com.br</a:t>
            </a:r>
          </a:p>
        </p:txBody>
      </p:sp>
    </p:spTree>
    <p:extLst>
      <p:ext uri="{BB962C8B-B14F-4D97-AF65-F5344CB8AC3E}">
        <p14:creationId xmlns:p14="http://schemas.microsoft.com/office/powerpoint/2010/main" val="341221216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430</Words>
  <Application>Microsoft Office PowerPoint</Application>
  <PresentationFormat>Personalizar</PresentationFormat>
  <Paragraphs>100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5" baseType="lpstr">
      <vt:lpstr>1</vt:lpstr>
      <vt:lpstr>Aptos</vt:lpstr>
      <vt:lpstr>Aptos Display</vt:lpstr>
      <vt:lpstr>Arial</vt:lpstr>
      <vt:lpstr>Calibri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lab</dc:creator>
  <cp:lastModifiedBy>lab</cp:lastModifiedBy>
  <cp:revision>1</cp:revision>
  <dcterms:created xsi:type="dcterms:W3CDTF">2026-08-31T20:59:42Z</dcterms:created>
  <dcterms:modified xsi:type="dcterms:W3CDTF">2026-08-31T20:59:42Z</dcterms:modified>
</cp:coreProperties>
</file>